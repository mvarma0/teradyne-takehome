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afternoon. This readout details our final production test program release for Volta-7 on the Advantest V93000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fault simulation numbers exceed industry automotive baselines, ensuring defect screening down to single-digit Defective Parts Per Million (DPPM).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Shaving test time from 3.82s to 3.14s saves FastChip over 180,000 annually in backend tester time and guarantees Penang test floor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quad-site final test hardware delivers tremendous throughput, capable of testing over 4,500 units per hour per tester.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tri-temp screening flow guarantees zero escapes to NovaDrive Motors. Test program is locked and ready for commercial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10698480" cy="1463040"/>
          </a:xfrm>
        </p:spPr>
        <p:txBody>
          <a:bodyPr/>
          <a:lstStyle/>
          <a:p>
            <a:r>
              <a:t>Volta-7 ATE Test Coverage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474720"/>
            <a:ext cx="10698480" cy="1828800"/>
          </a:xfrm>
        </p:spPr>
        <p:txBody>
          <a:bodyPr/>
          <a:lstStyle/>
          <a:p>
            <a:r>
              <a:rPr sz="1800" b="1" i="0"/>
              <a:t>Author:</a:t>
            </a:r>
            <a:r>
              <a:rPr sz="1800" b="0" i="0"/>
              <a:t> Emma White, Test Engineer Lead</a:t>
            </a:r>
          </a:p>
          <a:p>
            <a:r>
              <a:rPr sz="1800" b="1" i="0"/>
              <a:t>Platform:</a:t>
            </a:r>
            <a:r>
              <a:rPr sz="1800" b="0" i="0"/>
              <a:t> Advantest V93000 (SmarTest 8)</a:t>
            </a:r>
          </a:p>
          <a:p>
            <a:r>
              <a:rPr sz="1800" b="1" i="0"/>
              <a:t>Date:</a:t>
            </a:r>
            <a:r>
              <a:rPr sz="1800" b="0" i="0"/>
              <a:t> April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Title &amp; Test Engineering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Title:</a:t>
            </a:r>
            <a:r>
              <a:rPr sz="2000" b="0" i="0"/>
              <a:t> Volta-7 ATE Test Coverage and Execution Optimization Review</a:t>
            </a:r>
          </a:p>
          <a:p>
            <a:pPr/>
            <a:r>
              <a:rPr sz="2000" b="1" i="0"/>
              <a:t>Author:</a:t>
            </a:r>
            <a:r>
              <a:rPr sz="2000" b="0" i="0"/>
              <a:t> Emma White, Test Engineer Lead</a:t>
            </a:r>
          </a:p>
          <a:p>
            <a:pPr/>
            <a:r>
              <a:rPr sz="2000" b="1" i="0"/>
              <a:t>Target Application:</a:t>
            </a:r>
            <a:r>
              <a:rPr sz="2000" b="0" i="0"/>
              <a:t> High-Volume Wafer Sort &amp; Final Package Test</a:t>
            </a:r>
          </a:p>
          <a:p>
            <a:pPr/>
            <a:r>
              <a:rPr sz="2000" b="1" i="0"/>
              <a:t>Tester Platform:</a:t>
            </a:r>
            <a:r>
              <a:rPr sz="2000" b="0" i="0"/>
              <a:t> Advantest V93000 PS1600 Mixed-Signal Direct Probe / Socket</a:t>
            </a:r>
          </a:p>
          <a:p>
            <a:pPr/>
            <a:r>
              <a:rPr sz="2000" b="1" i="0"/>
              <a:t>Key Milestones:</a:t>
            </a:r>
          </a:p>
          <a:p>
            <a:pPr lvl="1"/>
            <a:r>
              <a:rPr sz="1800" b="0" i="0"/>
              <a:t>Completed fault simulation coverage across digital logic, memory, and analog blocks.</a:t>
            </a:r>
          </a:p>
          <a:p>
            <a:pPr lvl="1"/>
            <a:r>
              <a:rPr sz="1800" b="0" i="0"/>
              <a:t>Optimized test execution time from 6.40s down to 3.14s (beating 3.20s budget).</a:t>
            </a:r>
          </a:p>
          <a:p>
            <a:pPr lvl="1"/>
            <a:r>
              <a:rPr sz="1800" b="0" i="0"/>
              <a:t>Integrated tri-temperature screening (-40°C, +25°C, +125°C) for automotive qual.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Fault Simulation &amp; Test Coverage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Digital Core &amp; Peripheral Coverage:</a:t>
            </a:r>
          </a:p>
          <a:p>
            <a:pPr lvl="1"/>
            <a:r>
              <a:rPr sz="1800" b="0" i="1"/>
              <a:t>Stuck-at Fault Coverage:</a:t>
            </a:r>
            <a:r>
              <a:rPr sz="1800" b="0" i="0"/>
              <a:t> </a:t>
            </a:r>
            <a:r>
              <a:rPr sz="1800" b="1" i="0"/>
              <a:t>99.42%</a:t>
            </a:r>
            <a:r>
              <a:rPr sz="1800" b="0" i="0"/>
              <a:t> (Target: &gt;99.0%). Total faults graded: 1,420,890.</a:t>
            </a:r>
          </a:p>
          <a:p>
            <a:pPr lvl="1"/>
            <a:r>
              <a:rPr sz="1800" b="0" i="1"/>
              <a:t>Transition Delay Fault Coverage (At-Speed Scan):</a:t>
            </a:r>
            <a:r>
              <a:rPr sz="1800" b="0" i="0"/>
              <a:t> </a:t>
            </a:r>
            <a:r>
              <a:rPr sz="1800" b="1" i="0"/>
              <a:t>96.81%</a:t>
            </a:r>
            <a:r>
              <a:rPr sz="1800" b="0" i="0"/>
              <a:t> (Target: &gt;95.0%).</a:t>
            </a:r>
          </a:p>
          <a:p>
            <a:pPr lvl="1"/>
            <a:r>
              <a:rPr sz="1800" b="0" i="1"/>
              <a:t>Bridging Fault Coverage:</a:t>
            </a:r>
            <a:r>
              <a:rPr sz="1800" b="0" i="0"/>
              <a:t> </a:t>
            </a:r>
            <a:r>
              <a:rPr sz="1800" b="1" i="0"/>
              <a:t>94.20%</a:t>
            </a:r>
            <a:r>
              <a:rPr sz="1800" b="0" i="0"/>
              <a:t>.</a:t>
            </a:r>
          </a:p>
          <a:p>
            <a:pPr/>
            <a:r>
              <a:rPr sz="2000" b="1" i="0"/>
              <a:t>Embedded Memory &amp; Mixed-Signal Coverage:</a:t>
            </a:r>
          </a:p>
          <a:p>
            <a:pPr lvl="1"/>
            <a:r>
              <a:rPr sz="1800" b="0" i="1"/>
              <a:t>Embedded Flash &amp; SRAM BIST:</a:t>
            </a:r>
            <a:r>
              <a:rPr sz="1800" b="0" i="0"/>
              <a:t> 100% coverage with 13N March C+ and checkerboard algorithms.</a:t>
            </a:r>
          </a:p>
          <a:p>
            <a:pPr lvl="1"/>
            <a:r>
              <a:rPr sz="1800" b="0" i="1"/>
              <a:t>Analog BIST &amp; Trims:</a:t>
            </a:r>
            <a:r>
              <a:rPr sz="1800" b="0" i="0"/>
              <a:t> Bandgap, internal RC oscillator, and high-voltage charge pump trimmed to &lt;0.5% tolerance.</a:t>
            </a:r>
          </a:p>
          <a:p>
            <a:pPr lvl="1"/>
            <a:r>
              <a:rPr sz="1800" b="0" i="1"/>
              <a:t>High-Speed IO:</a:t>
            </a:r>
            <a:r>
              <a:rPr sz="1800" b="0" i="0"/>
              <a:t> Full functional loopback on CAN-FD (5 Mbps) and LIN (20 kbps) channels.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Initial vs Optimized Test Time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Execution Time Evolution:</a:t>
            </a:r>
          </a:p>
          <a:p>
            <a:pPr lvl="1"/>
            <a:r>
              <a:rPr sz="1800" b="0" i="0"/>
              <a:t>First Program Prototype (Jan 19): </a:t>
            </a:r>
            <a:r>
              <a:rPr sz="1800" b="1" i="0"/>
              <a:t>6.40 seconds</a:t>
            </a:r>
            <a:r>
              <a:rPr sz="1800" b="0" i="0"/>
              <a:t> (Severely unoptimized).</a:t>
            </a:r>
          </a:p>
          <a:p>
            <a:pPr lvl="1"/>
            <a:r>
              <a:rPr sz="1800" b="0" i="0"/>
              <a:t>Rev 1.0 Release (Feb 23): </a:t>
            </a:r>
            <a:r>
              <a:rPr sz="1800" b="1" i="0"/>
              <a:t>3.82 seconds</a:t>
            </a:r>
            <a:r>
              <a:rPr sz="1800" b="0" i="0"/>
              <a:t> (Functional, but exceeds 3.20s target).</a:t>
            </a:r>
          </a:p>
          <a:p>
            <a:pPr lvl="1"/>
            <a:r>
              <a:rPr sz="1800" b="0" i="0"/>
              <a:t>Rev 1.2 Final Production (Apr 19): </a:t>
            </a:r>
            <a:r>
              <a:rPr sz="1800" b="1" i="0"/>
              <a:t>3.14 seconds (PASSED TARGET)</a:t>
            </a:r>
            <a:r>
              <a:rPr sz="1800" b="0" i="0"/>
              <a:t>.</a:t>
            </a:r>
          </a:p>
          <a:p>
            <a:pPr/>
            <a:r>
              <a:rPr sz="2000" b="1" i="0"/>
              <a:t>Key Optimization Breakthroughs:</a:t>
            </a:r>
          </a:p>
          <a:p>
            <a:pPr lvl="1"/>
            <a:r>
              <a:rPr sz="1800" b="0" i="1"/>
              <a:t>Concurrent ADC Sampling:</a:t>
            </a:r>
            <a:r>
              <a:rPr sz="1800" b="0" i="0"/>
              <a:t> Parallelized ADC0 and ADC1 linearity test patterns (-350 ms).</a:t>
            </a:r>
          </a:p>
          <a:p>
            <a:pPr lvl="1"/>
            <a:r>
              <a:rPr sz="1800" b="0" i="1"/>
              <a:t>Scan Vector Compression:</a:t>
            </a:r>
            <a:r>
              <a:rPr sz="1800" b="0" i="0"/>
              <a:t> Applied SmartBIST pattern compaction (-180 ms).</a:t>
            </a:r>
          </a:p>
          <a:p>
            <a:pPr lvl="1"/>
            <a:r>
              <a:rPr sz="1800" b="0" i="1"/>
              <a:t>Streamlined OTP Verification:</a:t>
            </a:r>
            <a:r>
              <a:rPr sz="1800" b="0" i="0"/>
              <a:t> Eliminated redundant read cycles during non-volatile ID burn (-150 ms).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Tester Platform &amp; Multi-Site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Hardware Configuration:</a:t>
            </a:r>
          </a:p>
          <a:p>
            <a:pPr lvl="1"/>
            <a:r>
              <a:rPr sz="1800" b="0" i="0"/>
              <a:t>Tester: Advantest V93000 with 32-channel DC Scale and high-speed digital PS1600 pins.</a:t>
            </a:r>
          </a:p>
          <a:p>
            <a:pPr lvl="1"/>
            <a:r>
              <a:rPr sz="1800" b="0" i="0"/>
              <a:t>Wafer Sort: Dual-DUT probe card (2-site parallel test) with ceramic blade needle interface.</a:t>
            </a:r>
          </a:p>
          <a:p>
            <a:pPr lvl="1"/>
            <a:r>
              <a:rPr sz="1800" b="0" i="0"/>
              <a:t>Final Package Test: Quad-site (4-DUT parallel) test socket board with Kelvin contactors.</a:t>
            </a:r>
          </a:p>
          <a:p>
            <a:pPr/>
            <a:r>
              <a:rPr sz="2000" b="1" i="0"/>
              <a:t>Parallel Test Efficiency (PTE):</a:t>
            </a:r>
          </a:p>
          <a:p>
            <a:pPr lvl="1"/>
            <a:r>
              <a:rPr sz="1800" b="0" i="0"/>
              <a:t>Wafer Sort PTE: </a:t>
            </a:r>
            <a:r>
              <a:rPr sz="1800" b="1" i="0"/>
              <a:t>96.4%</a:t>
            </a:r>
            <a:r>
              <a:rPr sz="1800" b="0" i="0"/>
              <a:t> efficiency across 2 sites.</a:t>
            </a:r>
          </a:p>
          <a:p>
            <a:pPr lvl="1"/>
            <a:r>
              <a:rPr sz="1800" b="0" i="0"/>
              <a:t>Final Test Quad-Site PTE: </a:t>
            </a:r>
            <a:r>
              <a:rPr sz="1800" b="1" i="0"/>
              <a:t>94.8%</a:t>
            </a:r>
            <a:r>
              <a:rPr sz="1800" b="0" i="0"/>
              <a:t> efficiency across 4 sites.</a:t>
            </a:r>
          </a:p>
          <a:p>
            <a:pPr lvl="1"/>
            <a:r>
              <a:rPr sz="1800" b="0" i="0"/>
              <a:t>Zero cross-talk or ground-bounce interference observed during simultaneous multi-site scan bursts.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Production Test Flow &amp; Guardbanding 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Automotive Production Screening Flow:</a:t>
            </a:r>
          </a:p>
          <a:p>
            <a:pPr lvl="1"/>
            <a:r>
              <a:rPr sz="1800" b="0" i="1"/>
              <a:t>Step 1: Wafer Sort (Austin / Penang):</a:t>
            </a:r>
            <a:r>
              <a:rPr sz="1800" b="0" i="0"/>
              <a:t> Room temperature (25°C) screening + wafer map scrap defect flagging.</a:t>
            </a:r>
          </a:p>
          <a:p>
            <a:pPr lvl="1"/>
            <a:r>
              <a:rPr sz="1800" b="0" i="1"/>
              <a:t>Step 2: Backend Assembly:</a:t>
            </a:r>
            <a:r>
              <a:rPr sz="1800" b="0" i="0"/>
              <a:t> Mold into wettable-flank QFN-48 package.</a:t>
            </a:r>
          </a:p>
          <a:p>
            <a:pPr lvl="1"/>
            <a:r>
              <a:rPr sz="1800" b="0" i="1"/>
              <a:t>Step 3: Tri-Temp Final Test (Penang Backend):</a:t>
            </a:r>
          </a:p>
          <a:p>
            <a:pPr lvl="2"/>
            <a:r>
              <a:rPr sz="1600" b="0" i="0"/>
              <a:t>Insertion 1: Hot Test (+125°C) — 100% functional, analog trim, and high-temperature leakage.</a:t>
            </a:r>
          </a:p>
          <a:p>
            <a:pPr lvl="2"/>
            <a:r>
              <a:rPr sz="1600" b="0" i="0"/>
              <a:t>Insertion 2: Cold Test (-40°C) — At-speed scan timing, low-temperature charge pump regulation.</a:t>
            </a:r>
          </a:p>
          <a:p>
            <a:pPr/>
            <a:r>
              <a:rPr sz="2000" b="1" i="0"/>
              <a:t>Statistical Guardbanding:</a:t>
            </a:r>
            <a:r>
              <a:rPr sz="2000" b="0" i="0"/>
              <a:t> Limits tightened by 6σ based on 50,000-unit CPK characterization distributions.</a:t>
            </a:r>
          </a:p>
          <a:p>
            <a:pPr/>
            <a:r>
              <a:rPr sz="2000" b="0" i="1"/>
              <a:t>Sign-off:</a:t>
            </a:r>
            <a:r>
              <a:rPr sz="2000" b="0" i="0"/>
              <a:t> Emma White (Lead Test Eng) | Anna Becker (Quality Mgr).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Volta-7 ATE Test Coverage Review</dc:title>
  <dc:subject/>
  <dc:creator>Emma White</dc:creator>
  <cp:keywords>FastChip Semiconductor</cp:keywords>
  <dc:description>rebuilt-by-rebuild_office_docs</dc:description>
  <cp:lastModifiedBy>Emma White</cp:lastModifiedBy>
  <cp:revision>1</cp:revision>
  <dcterms:created xsi:type="dcterms:W3CDTF">2026-04-24T00:00:00Z</dcterms:created>
  <dcterms:modified xsi:type="dcterms:W3CDTF">2026-04-24T00:00:00Z</dcterms:modified>
  <cp:category/>
</cp:coreProperties>
</file>
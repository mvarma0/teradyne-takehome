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leadership team. Q1 has been the most demanding quarter in PE history. While the HTOL failure tested our resilience, our rapid root-cause isolation and Rev B tape-out preserve our June customer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lean 20-person engineering organization demonstrated world-class cross-functional agility, moving from failure detection to physical cross-section in 72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timeline is extremely tight with zero margin for error. Rev B silicon arrival on April 21 is the foundational milestone for customer audit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James Ortiz's data proves the fab process is fixed. The remaining yield gap on Rev A was purely design-limited by the IO clamp leakage, which Rev B eliminates.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Kevin Tran and Rosa Santos isolated this to layout cell substitution. While painful, the root cause is completely deterministic and 100% resolvable in Rev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Emma White's optimization work ensures our test time budget will be beaten, protecting gross margins during high-volume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mitigation matrix is fully active. Derek Cole tracks wafer WIP movement daily with Penang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line: Q2 is about flawless execution. We have the technical solution, the team, and the customer alignment to cross the finish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463040"/>
          </a:xfrm>
        </p:spPr>
        <p:txBody>
          <a:bodyPr/>
          <a:lstStyle/>
          <a:p>
            <a:r>
              <a:t>PE Division Quarterly Review — Q1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10698480" cy="1828800"/>
          </a:xfrm>
        </p:spPr>
        <p:txBody>
          <a:bodyPr/>
          <a:lstStyle/>
          <a:p>
            <a:r>
              <a:rPr sz="1800" b="1" i="0"/>
              <a:t>Author:</a:t>
            </a:r>
            <a:r>
              <a:rPr sz="1800" b="0" i="0"/>
              <a:t> Lisa Park, Product Engineering Manager</a:t>
            </a:r>
          </a:p>
          <a:p>
            <a:r>
              <a:rPr sz="1800" b="1" i="0"/>
              <a:t>Audience:</a:t>
            </a:r>
            <a:r>
              <a:rPr sz="1800" b="0" i="0"/>
              <a:t> FastChip Executive Committee &amp; Engineering Operations</a:t>
            </a:r>
          </a:p>
          <a:p>
            <a:r>
              <a:rPr sz="1800" b="1" i="0"/>
              <a:t>Date:</a:t>
            </a:r>
            <a:r>
              <a:rPr sz="1800" b="0" i="0"/>
              <a:t> March 28,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Title &amp;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Title:</a:t>
            </a:r>
            <a:r>
              <a:rPr sz="2000" b="0" i="0"/>
              <a:t> Product Engineering Division Q1 2024 Executive Review</a:t>
            </a:r>
          </a:p>
          <a:p>
            <a:pPr/>
            <a:r>
              <a:rPr sz="2000" b="1" i="0"/>
              <a:t>Subtitle:</a:t>
            </a:r>
            <a:r>
              <a:rPr sz="2000" b="0" i="0"/>
              <a:t> Volta-7 Automotive Ramp, Technical Containment, and Rev B Roadmap</a:t>
            </a:r>
          </a:p>
          <a:p>
            <a:pPr/>
            <a:r>
              <a:rPr sz="2000" b="1" i="0"/>
              <a:t>Presenter:</a:t>
            </a:r>
            <a:r>
              <a:rPr sz="2000" b="0" i="0"/>
              <a:t> Lisa Park, Product Engineering Manager</a:t>
            </a:r>
          </a:p>
          <a:p>
            <a:pPr/>
            <a:r>
              <a:rPr sz="2000" b="1" i="0"/>
              <a:t>Key Takeaways:</a:t>
            </a:r>
          </a:p>
          <a:p>
            <a:pPr lvl="1"/>
            <a:r>
              <a:rPr sz="1800" b="0" i="0"/>
              <a:t>First silicon arrived Jan 2024; initial wafer sort yield of 41.2% recovered to 58.2% via Penang Fab CMP optimization.</a:t>
            </a:r>
          </a:p>
          <a:p>
            <a:pPr lvl="1"/>
            <a:r>
              <a:rPr sz="1800" b="0" i="0"/>
              <a:t>Rev A qualification suffered a critical setback with 3 HTOL failures at 500 hours due to undersized IO clamp design.</a:t>
            </a:r>
          </a:p>
          <a:p>
            <a:pPr lvl="1"/>
            <a:r>
              <a:rPr sz="1800" b="0" i="0"/>
              <a:t>Emergency Rev B redesign committed to mask shop on March 23; silicon arrival locked for April 21.</a:t>
            </a:r>
          </a:p>
          <a:p>
            <a:pPr lvl="1"/>
            <a:r>
              <a:rPr sz="1800" b="0" i="0"/>
              <a:t>Team alignment and engineering containment executing to maintain NovaDrive Motors June 2024 SOP.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PE Organization &amp; Headcount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600" b="1" i="0"/>
              <a:t>Division Overview:</a:t>
            </a:r>
            <a:r>
              <a:rPr sz="1600" b="0" i="0"/>
              <a:t> Total division headcount stands at exactly 20 dedicated engineers across two primary sites.</a:t>
            </a:r>
          </a:p>
          <a:p>
            <a:pPr/>
            <a:r>
              <a:rPr sz="1600" b="1" i="0"/>
              <a:t>Austin HQ Team (14 Engineers):</a:t>
            </a:r>
          </a:p>
          <a:p>
            <a:pPr lvl="1"/>
            <a:r>
              <a:rPr sz="1400" b="0" i="0"/>
              <a:t>Product Engineering Leadership (Mike Chen, Lisa Park)</a:t>
            </a:r>
          </a:p>
          <a:p>
            <a:pPr lvl="1"/>
            <a:r>
              <a:rPr sz="1400" b="0" i="0"/>
              <a:t>Yield &amp; Defect Analysis (James Ortiz)</a:t>
            </a:r>
          </a:p>
          <a:p>
            <a:pPr lvl="1"/>
            <a:r>
              <a:rPr sz="1400" b="0" i="0"/>
              <a:t>ATE Test Development &amp; Tri-Temp Lab (Emma White + 3 test engineers)</a:t>
            </a:r>
          </a:p>
          <a:p>
            <a:pPr lvl="1"/>
            <a:r>
              <a:rPr sz="1400" b="0" i="0"/>
              <a:t>Reliability &amp; Qualification Lab (Kevin Tran + 2 rel technicians)</a:t>
            </a:r>
          </a:p>
          <a:p>
            <a:pPr lvl="1"/>
            <a:r>
              <a:rPr sz="1400" b="0" i="0"/>
              <a:t>Quality Management &amp; Customer Interface (Anna Becker, Tom Harris)</a:t>
            </a:r>
          </a:p>
          <a:p>
            <a:pPr lvl="1"/>
            <a:r>
              <a:rPr sz="1400" b="0" i="0"/>
              <a:t>Physical Failure Analysis Lab (Rosa Santos + 2 FA specialists)</a:t>
            </a:r>
          </a:p>
          <a:p>
            <a:pPr lvl="1"/>
            <a:r>
              <a:rPr sz="1400" b="0" i="0"/>
              <a:t>NPI Program Management &amp; Design Interface (Derek Cole, Sara Nolan)</a:t>
            </a:r>
          </a:p>
          <a:p>
            <a:pPr/>
            <a:r>
              <a:rPr sz="1600" b="1" i="0"/>
              <a:t>Penang Operations Team (6 Engineers):</a:t>
            </a:r>
          </a:p>
          <a:p>
            <a:pPr lvl="1"/>
            <a:r>
              <a:rPr sz="1400" b="0" i="0"/>
              <a:t>Fab Process Integration, Probe Sort Floor, and Backend Packaging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Volta-7 Silicon Status &amp; Ramp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600" b="1" i="0"/>
              <a:t>Target Application:</a:t>
            </a:r>
            <a:r>
              <a:rPr sz="1600" b="0" i="0"/>
              <a:t> High-Voltage Inverter Controller for NovaDrive Motors 2025 EV Platform.</a:t>
            </a:r>
          </a:p>
          <a:p>
            <a:pPr/>
            <a:r>
              <a:rPr sz="1600" b="1" i="0"/>
              <a:t>Process Technology:</a:t>
            </a:r>
            <a:r>
              <a:rPr sz="1600" b="0" i="0"/>
              <a:t> 130nm BCD Automotive Node (Penang Fab 2), 48-pin QFN package.</a:t>
            </a:r>
          </a:p>
          <a:p>
            <a:pPr/>
            <a:r>
              <a:rPr sz="1600" b="1" i="0"/>
              <a:t>Ramp Milestones:</a:t>
            </a:r>
          </a:p>
          <a:p>
            <a:pPr lvl="1"/>
            <a:r>
              <a:rPr sz="1400" b="0" i="1"/>
              <a:t>Jan 08:</a:t>
            </a:r>
            <a:r>
              <a:rPr sz="1400" b="0" i="0"/>
              <a:t> Silicon ramp kickoff.</a:t>
            </a:r>
          </a:p>
          <a:p>
            <a:pPr lvl="1"/>
            <a:r>
              <a:rPr sz="1400" b="0" i="1"/>
              <a:t>Jan 15:</a:t>
            </a:r>
            <a:r>
              <a:rPr sz="1400" b="0" i="0"/>
              <a:t> First silicon sort (Lot 1): 41.2% yield (RED).</a:t>
            </a:r>
          </a:p>
          <a:p>
            <a:pPr lvl="1"/>
            <a:r>
              <a:rPr sz="1400" b="0" i="1"/>
              <a:t>Feb 05:</a:t>
            </a:r>
            <a:r>
              <a:rPr sz="1400" b="0" i="0"/>
              <a:t> CMP defect identified, yield reaches 54.8% (YELLOW).</a:t>
            </a:r>
          </a:p>
          <a:p>
            <a:pPr lvl="1"/>
            <a:r>
              <a:rPr sz="1400" b="0" i="1"/>
              <a:t>Mar 01:</a:t>
            </a:r>
            <a:r>
              <a:rPr sz="1400" b="0" i="0"/>
              <a:t> 50 ES1 engineering samples delivered to NovaDrive.</a:t>
            </a:r>
          </a:p>
          <a:p>
            <a:pPr lvl="1"/>
            <a:r>
              <a:rPr sz="1400" b="0" i="1"/>
              <a:t>Mar 11:</a:t>
            </a:r>
            <a:r>
              <a:rPr sz="1400" b="0" i="0"/>
              <a:t> HTOL 500h failure detected (CRITICAL RED).</a:t>
            </a:r>
          </a:p>
          <a:p>
            <a:pPr lvl="1"/>
            <a:r>
              <a:rPr sz="1400" b="0" i="1"/>
              <a:t>Mar 23:</a:t>
            </a:r>
            <a:r>
              <a:rPr sz="1400" b="0" i="0"/>
              <a:t> Rev B mask tape-out released.</a:t>
            </a:r>
          </a:p>
          <a:p>
            <a:pPr lvl="1"/>
            <a:r>
              <a:rPr sz="1400" b="0" i="1"/>
              <a:t>Apr 21 (Target):</a:t>
            </a:r>
            <a:r>
              <a:rPr sz="1400" b="0" i="0"/>
              <a:t> Rev B first silicon arrival at Austin sort.</a:t>
            </a:r>
          </a:p>
          <a:p>
            <a:pPr lvl="1"/>
            <a:r>
              <a:rPr sz="1400" b="0" i="1"/>
              <a:t>May 12 (Target):</a:t>
            </a:r>
            <a:r>
              <a:rPr sz="1400" b="0" i="0"/>
              <a:t> NovaDrive On-Site Supplier Audit.</a:t>
            </a:r>
          </a:p>
          <a:p>
            <a:pPr lvl="1"/>
            <a:r>
              <a:rPr sz="1400" b="0" i="1"/>
              <a:t>Jun 2024:</a:t>
            </a:r>
            <a:r>
              <a:rPr sz="1400" b="0" i="0"/>
              <a:t> Mass Production SOP.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Q1 Yield Trajectory &amp; Fab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Yield Trajectory:</a:t>
            </a:r>
          </a:p>
          <a:p>
            <a:pPr lvl="1"/>
            <a:r>
              <a:rPr sz="1600" b="0" i="0"/>
              <a:t>Jan baseline: </a:t>
            </a:r>
            <a:r>
              <a:rPr sz="1600" b="1" i="0"/>
              <a:t>41.2%</a:t>
            </a:r>
            <a:r>
              <a:rPr sz="1600" b="0" i="0"/>
              <a:t> (Lot LOT-V7-001, heavy Bin 4 logic scan failures).</a:t>
            </a:r>
          </a:p>
          <a:p>
            <a:pPr lvl="1"/>
            <a:r>
              <a:rPr sz="1600" b="0" i="0"/>
              <a:t>Feb recovery: </a:t>
            </a:r>
            <a:r>
              <a:rPr sz="1600" b="1" i="0"/>
              <a:t>54.8%</a:t>
            </a:r>
            <a:r>
              <a:rPr sz="1600" b="0" i="0"/>
              <a:t> (Lot LOT-V7-004, initial CMP down-force reduction).</a:t>
            </a:r>
          </a:p>
          <a:p>
            <a:pPr lvl="1"/>
            <a:r>
              <a:rPr sz="1600" b="0" i="0"/>
              <a:t>Mar baseline: </a:t>
            </a:r>
            <a:r>
              <a:rPr sz="1600" b="1" i="0"/>
              <a:t>58.2%</a:t>
            </a:r>
            <a:r>
              <a:rPr sz="1600" b="0" i="0"/>
              <a:t> (Lot LOT-V7-013, stable CMP process window).</a:t>
            </a:r>
          </a:p>
          <a:p>
            <a:pPr lvl="1"/>
            <a:r>
              <a:rPr sz="1600" b="0" i="0"/>
              <a:t>Ramp Entitlement Model: </a:t>
            </a:r>
            <a:r>
              <a:rPr sz="1600" b="1" i="0"/>
              <a:t>70.0%</a:t>
            </a:r>
            <a:r>
              <a:rPr sz="1600" b="0" i="0"/>
              <a:t> target; Rev B projection is </a:t>
            </a:r>
            <a:r>
              <a:rPr sz="1600" b="1" i="0"/>
              <a:t>78%–82%</a:t>
            </a:r>
            <a:r>
              <a:rPr sz="1600" b="0" i="0"/>
              <a:t>.</a:t>
            </a:r>
          </a:p>
          <a:p>
            <a:pPr/>
            <a:r>
              <a:rPr sz="1800" b="1" i="0"/>
              <a:t>Yield Loss Breakdown &amp; Resolution:</a:t>
            </a:r>
          </a:p>
          <a:p>
            <a:pPr lvl="1"/>
            <a:r>
              <a:rPr sz="1600" b="0" i="1"/>
              <a:t>Bin 4 (Logic Scan BIST):</a:t>
            </a:r>
            <a:r>
              <a:rPr sz="1600" b="0" i="0"/>
              <a:t> Caused by Metal 3 copper CMP dishing. Resolved by lowering platen down-force (2.8 to 2.1 psi) and high-selectivity slurry.</a:t>
            </a:r>
          </a:p>
          <a:p>
            <a:pPr lvl="1"/>
            <a:r>
              <a:rPr sz="1600" b="0" i="1"/>
              <a:t>Bin 7 (Analog IDDQ Leakage):</a:t>
            </a:r>
            <a:r>
              <a:rPr sz="1600" b="0" i="0"/>
              <a:t> Attributable to Rev A IO clamp design weakness. Fixed in Rev B mask.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Reliability Qualification &amp; HTOL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Qualification Standard:</a:t>
            </a:r>
            <a:r>
              <a:rPr sz="1800" b="0" i="0"/>
              <a:t> AEC-Q100 Grade 1 (-40°C to +125°C ambient, TJ = 150°C).</a:t>
            </a:r>
          </a:p>
          <a:p>
            <a:pPr/>
            <a:r>
              <a:rPr sz="1800" b="1" i="0"/>
              <a:t>Rev A HTOL Performance:</a:t>
            </a:r>
          </a:p>
          <a:p>
            <a:pPr lvl="1"/>
            <a:r>
              <a:rPr sz="1600" b="0" i="0"/>
              <a:t>168-Hour Readout: 231/231 Passed (0 fails).</a:t>
            </a:r>
          </a:p>
          <a:p>
            <a:pPr lvl="1"/>
            <a:r>
              <a:rPr sz="1600" b="0" i="0"/>
              <a:t>500-Hour Readout: 3/231 Failed (catastrophic pin short to ground on Units U042, U089, U115).</a:t>
            </a:r>
          </a:p>
          <a:p>
            <a:pPr/>
            <a:r>
              <a:rPr sz="1800" b="1" i="0"/>
              <a:t>Failure Analysis Findings (Rosa Santos):</a:t>
            </a:r>
          </a:p>
          <a:p>
            <a:pPr lvl="1"/>
            <a:r>
              <a:rPr sz="1600" b="0" i="0"/>
              <a:t>Hotspot localized via EMMI to primary ESD rail clamp.</a:t>
            </a:r>
          </a:p>
          <a:p>
            <a:pPr lvl="1"/>
            <a:r>
              <a:rPr sz="1600" b="0" i="0"/>
              <a:t>FIB confirmed gate oxide dielectric puncture and silicon melt filament.</a:t>
            </a:r>
          </a:p>
          <a:p>
            <a:pPr lvl="1"/>
            <a:r>
              <a:rPr sz="1600" b="0" i="0"/>
              <a:t>Physical cause: Commercial 120µm clamp macro used instead of 280µm automotive cell.</a:t>
            </a:r>
          </a:p>
          <a:p>
            <a:pPr/>
            <a:r>
              <a:rPr sz="1800" b="1" i="0"/>
              <a:t>Reliability Next Steps:</a:t>
            </a:r>
            <a:r>
              <a:rPr sz="1800" b="0" i="0"/>
              <a:t> Full qualification retest on Rev B silicon utilizing accelerated 168h screen + 1000h qual chamber.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ATE Test Program &amp; Test Time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Test Platform:</a:t>
            </a:r>
            <a:r>
              <a:rPr sz="1800" b="0" i="0"/>
              <a:t> Advantest V93000 (Pin Scale 1600 / SmarTest 8).</a:t>
            </a:r>
          </a:p>
          <a:p>
            <a:pPr/>
            <a:r>
              <a:rPr sz="1800" b="1" i="0"/>
              <a:t>Test Coverage Metrics:</a:t>
            </a:r>
          </a:p>
          <a:p>
            <a:pPr lvl="1"/>
            <a:r>
              <a:rPr sz="1600" b="0" i="0"/>
              <a:t>Digital Scan ATPG: 99.4% stuck-at coverage, 96.8% transition delay coverage.</a:t>
            </a:r>
          </a:p>
          <a:p>
            <a:pPr lvl="1"/>
            <a:r>
              <a:rPr sz="1600" b="0" i="0"/>
              <a:t>Analog / Mixed-Signal: Full CAN-FD loopback, high-voltage charge pump, and ADC linearity.</a:t>
            </a:r>
          </a:p>
          <a:p>
            <a:pPr/>
            <a:r>
              <a:rPr sz="1800" b="1" i="0"/>
              <a:t>Test Time Optimization Progress:</a:t>
            </a:r>
          </a:p>
          <a:p>
            <a:pPr lvl="1"/>
            <a:r>
              <a:rPr sz="1600" b="0" i="0"/>
              <a:t>Initial Test Program: 6.40 seconds (unacceptable capacity bottleneck).</a:t>
            </a:r>
          </a:p>
          <a:p>
            <a:pPr lvl="1"/>
            <a:r>
              <a:rPr sz="1600" b="0" i="0"/>
              <a:t>Rev 1.0 Release: 3.82 seconds.</a:t>
            </a:r>
          </a:p>
          <a:p>
            <a:pPr lvl="1"/>
            <a:r>
              <a:rPr sz="1600" b="0" i="0"/>
              <a:t>Rev 1.2 Optimization: Shaving dual-ADC conversion from sequential to parallel execution.</a:t>
            </a:r>
          </a:p>
          <a:p>
            <a:pPr lvl="1"/>
            <a:r>
              <a:rPr sz="1600" b="0" i="0"/>
              <a:t>Target Budget: </a:t>
            </a:r>
            <a:r>
              <a:rPr sz="1600" b="1" i="0"/>
              <a:t>&lt;3.20 seconds</a:t>
            </a:r>
            <a:r>
              <a:rPr sz="1600" b="0" i="0"/>
              <a:t> (Projected Rev B: 3.14 seconds).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Critical Risks &amp; Containment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Risk 1: Rev B Fab Execution Slip</a:t>
            </a:r>
          </a:p>
          <a:p>
            <a:pPr lvl="1"/>
            <a:r>
              <a:rPr sz="1800" b="0" i="1"/>
              <a:t>Mitigation:</a:t>
            </a:r>
            <a:r>
              <a:rPr sz="1800" b="0" i="0"/>
              <a:t> Fab tagged 5 base lots at Poly gate; hot-lot metallization cycle time guaranteed at 20 days.</a:t>
            </a:r>
          </a:p>
          <a:p>
            <a:pPr/>
            <a:r>
              <a:rPr sz="2000" b="1" i="0"/>
              <a:t>Risk 2: Customer Relationship with NovaDrive</a:t>
            </a:r>
          </a:p>
          <a:p>
            <a:pPr lvl="1"/>
            <a:r>
              <a:rPr sz="1800" b="0" i="1"/>
              <a:t>Mitigation:</a:t>
            </a:r>
            <a:r>
              <a:rPr sz="1800" b="0" i="0"/>
              <a:t> Full transparency; 8D report submitted April 7; daily technical touchpoints via Tom Harris.</a:t>
            </a:r>
          </a:p>
          <a:p>
            <a:pPr/>
            <a:r>
              <a:rPr sz="2000" b="1" i="0"/>
              <a:t>Risk 3: Test Floor Capacity during Retest</a:t>
            </a:r>
          </a:p>
          <a:p>
            <a:pPr lvl="1"/>
            <a:r>
              <a:rPr sz="1800" b="0" i="1"/>
              <a:t>Mitigation:</a:t>
            </a:r>
            <a:r>
              <a:rPr sz="1800" b="0" i="0"/>
              <a:t> Pre-dedicated Tester 04 and two calibrated HTOL ovens in Lab C reserved exclusively for Rev B arrival.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Q2 2024 Objectives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April 21:</a:t>
            </a:r>
            <a:r>
              <a:rPr sz="2000" b="0" i="0"/>
              <a:t> Receive Rev B silicon; achieve &gt;75% wafer sort yield.</a:t>
            </a:r>
          </a:p>
          <a:p>
            <a:pPr/>
            <a:r>
              <a:rPr sz="2000" b="1" i="0"/>
              <a:t>April 28:</a:t>
            </a:r>
            <a:r>
              <a:rPr sz="2000" b="0" i="0"/>
              <a:t> Complete accelerated reliability readout (HTOL/TC/HAST) with zero failures.</a:t>
            </a:r>
          </a:p>
          <a:p>
            <a:pPr/>
            <a:r>
              <a:rPr sz="2000" b="1" i="0"/>
              <a:t>May 05:</a:t>
            </a:r>
            <a:r>
              <a:rPr sz="2000" b="0" i="0"/>
              <a:t> Complete internal dry-run for customer audit.</a:t>
            </a:r>
          </a:p>
          <a:p>
            <a:pPr/>
            <a:r>
              <a:rPr sz="2000" b="1" i="0"/>
              <a:t>May 12:</a:t>
            </a:r>
            <a:r>
              <a:rPr sz="2000" b="0" i="0"/>
              <a:t> Successfully pass NovaDrive on-site supplier qualification audit.</a:t>
            </a:r>
          </a:p>
          <a:p>
            <a:pPr/>
            <a:r>
              <a:rPr sz="2000" b="1" i="0"/>
              <a:t>May 20:</a:t>
            </a:r>
            <a:r>
              <a:rPr sz="2000" b="0" i="0"/>
              <a:t> Conduct PE division retrospective.</a:t>
            </a:r>
          </a:p>
          <a:p>
            <a:pPr/>
            <a:r>
              <a:rPr sz="2000" b="1" i="0"/>
              <a:t>June 2024:</a:t>
            </a:r>
            <a:r>
              <a:rPr sz="2000" b="0" i="0"/>
              <a:t> Authorize commercial mass production release (200k units/month).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 Division Quarterly Review — Q1 2024</dc:title>
  <dc:subject/>
  <dc:creator>Lisa Park</dc:creator>
  <cp:keywords>FastChip Semiconductor</cp:keywords>
  <dc:description>rebuilt-by-rebuild_office_docs</dc:description>
  <cp:lastModifiedBy>Lisa Park</cp:lastModifiedBy>
  <cp:revision>1</cp:revision>
  <dcterms:created xsi:type="dcterms:W3CDTF">2024-03-28T00:00:00Z</dcterms:created>
  <dcterms:modified xsi:type="dcterms:W3CDTF">2024-03-28T00:00:00Z</dcterms:modified>
  <cp:category/>
</cp:coreProperties>
</file>
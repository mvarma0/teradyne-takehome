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Yesterday's customer audit was a complete triumph. NovaDrive officially certified our quality systems and approved the production ramp on an interim PSW.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structured war-room approach and live demonstrations in the FA and ATE test labs gave NovaDrive total confidence in our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Klaus Meyer commended our 8D report as one of the most thorough root-cause investigations NovaDrive has reviewed this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NovaDrive specifically noted that our physical data left no room for skepticism. The transition to Rev B was validated in every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minor observations were resolved before the closing meeting. Klaus Meyer closed both items on-site.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Congratulations to the entire Product Engineering team. We navigated an existential customer crisis and emerged as a top-tier automotive partner.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828800"/>
            <a:ext cx="10698480" cy="1463040"/>
          </a:xfrm>
        </p:spPr>
        <p:txBody>
          <a:bodyPr/>
          <a:lstStyle/>
          <a:p>
            <a:r>
              <a:t>NovaDrive Customer Audit Readout — May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474720"/>
            <a:ext cx="10698480" cy="1828800"/>
          </a:xfrm>
        </p:spPr>
        <p:txBody>
          <a:bodyPr/>
          <a:lstStyle/>
          <a:p>
            <a:r>
              <a:rPr sz="1800" b="1" i="0"/>
              <a:t>Author:</a:t>
            </a:r>
            <a:r>
              <a:rPr sz="1800" b="0" i="0"/>
              <a:t> Anna Becker, Quality Manager</a:t>
            </a:r>
          </a:p>
          <a:p>
            <a:r>
              <a:rPr sz="1800" b="1" i="0"/>
              <a:t>Audience:</a:t>
            </a:r>
            <a:r>
              <a:rPr sz="1800" b="0" i="0"/>
              <a:t> FastChip Executive Committee &amp; Automotive Operations</a:t>
            </a:r>
          </a:p>
          <a:p>
            <a:r>
              <a:rPr sz="1800" b="1" i="0"/>
              <a:t>Date:</a:t>
            </a:r>
            <a:r>
              <a:rPr sz="1800" b="0" i="0"/>
              <a:t> May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Title &amp; Executive Audit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2000" b="1" i="0"/>
              <a:t>Title:</a:t>
            </a:r>
            <a:r>
              <a:rPr sz="2000" b="0" i="0"/>
              <a:t> NovaDrive On-Site Quality Audit — Final Readout &amp; Commercial Release</a:t>
            </a:r>
          </a:p>
          <a:p>
            <a:pPr/>
            <a:r>
              <a:rPr sz="2000" b="1" i="0"/>
              <a:t>Date Conducted:</a:t>
            </a:r>
            <a:r>
              <a:rPr sz="2000" b="0" i="0"/>
              <a:t> May 10, 2026 | Location: FastChip HQ (Austin, TX) &amp; Penang Fab (Remote)</a:t>
            </a:r>
          </a:p>
          <a:p>
            <a:pPr/>
            <a:r>
              <a:rPr sz="2000" b="1" i="0"/>
              <a:t>Lead Auditors:</a:t>
            </a:r>
            <a:r>
              <a:rPr sz="2000" b="0" i="0"/>
              <a:t> Klaus Meyer (Lead Supplier Quality Auditor, NovaDrive), Marcus Vance (VP Powertrain)</a:t>
            </a:r>
          </a:p>
          <a:p>
            <a:pPr/>
            <a:r>
              <a:rPr sz="2000" b="1" i="0"/>
              <a:t>Executive Audit Outcome:</a:t>
            </a:r>
          </a:p>
          <a:p>
            <a:pPr lvl="1"/>
            <a:r>
              <a:rPr sz="1800" b="1" i="0"/>
              <a:t>AUDIT RESULT: PASSED (GREEN STATUS)</a:t>
            </a:r>
          </a:p>
          <a:p>
            <a:pPr lvl="1"/>
            <a:r>
              <a:rPr sz="1800" b="1" i="0"/>
              <a:t>Zero (0) Major Non-Conformances.</a:t>
            </a:r>
          </a:p>
          <a:p>
            <a:pPr lvl="1"/>
            <a:r>
              <a:rPr sz="1800" b="1" i="0"/>
              <a:t>Two (2) Minor Observations (Both Contained On-Site).</a:t>
            </a:r>
          </a:p>
          <a:p>
            <a:pPr lvl="1"/>
            <a:r>
              <a:rPr sz="1800" b="1" i="0"/>
              <a:t>Production Part Approval Process (PPAP Level 3): INTERIM APPROVAL (full approval after the 1000-hour HTOL on June 2).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Audit Scope, Team &amp; Execution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2000" b="1" i="0"/>
              <a:t>Audit Scope:</a:t>
            </a:r>
            <a:r>
              <a:rPr sz="2000" b="0" i="0"/>
              <a:t> Complete review of Volta-7 product engineering, failure analysis rigor, 8D corrective actions, fab process SPC, and ATE test operations.</a:t>
            </a:r>
          </a:p>
          <a:p>
            <a:pPr/>
            <a:r>
              <a:rPr sz="2000" b="1" i="0"/>
              <a:t>FastChip Defense Team:</a:t>
            </a:r>
          </a:p>
          <a:p>
            <a:pPr lvl="1"/>
            <a:r>
              <a:rPr sz="1800" b="0" i="1"/>
              <a:t>Executive Lead:</a:t>
            </a:r>
            <a:r>
              <a:rPr sz="1800" b="0" i="0"/>
              <a:t> Mike Chen (VP Product Engineering)</a:t>
            </a:r>
          </a:p>
          <a:p>
            <a:pPr lvl="1"/>
            <a:r>
              <a:rPr sz="1800" b="0" i="1"/>
              <a:t>Track 1 (QMS &amp; 8D Verification):</a:t>
            </a:r>
            <a:r>
              <a:rPr sz="1800" b="0" i="0"/>
              <a:t> Anna Becker, Tom Harris</a:t>
            </a:r>
          </a:p>
          <a:p>
            <a:pPr lvl="1"/>
            <a:r>
              <a:rPr sz="1800" b="0" i="1"/>
              <a:t>Track 2 (FA Lab &amp; Physical Analysis):</a:t>
            </a:r>
            <a:r>
              <a:rPr sz="1800" b="0" i="0"/>
              <a:t> Rosa Santos, Sara Nolan</a:t>
            </a:r>
          </a:p>
          <a:p>
            <a:pPr lvl="1"/>
            <a:r>
              <a:rPr sz="1800" b="0" i="1"/>
              <a:t>Track 3 (Test Floor &amp; Lab Demonstration):</a:t>
            </a:r>
            <a:r>
              <a:rPr sz="1800" b="0" i="0"/>
              <a:t> Emma White, Kevin Tran</a:t>
            </a:r>
          </a:p>
          <a:p>
            <a:pPr lvl="1"/>
            <a:r>
              <a:rPr sz="1800" b="0" i="1"/>
              <a:t>Track 4 (Fab &amp; Assembly Process Control):</a:t>
            </a:r>
            <a:r>
              <a:rPr sz="1800" b="0" i="0"/>
              <a:t> James Ortiz, Penang Fab Operations (Live Video Bridge)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Executive Summary: Findings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2000" b="1" i="0"/>
              <a:t>Audit Scoring &amp; Category Matrix:</a:t>
            </a:r>
          </a:p>
          <a:p>
            <a:pPr lvl="1"/>
            <a:r>
              <a:rPr sz="1800" b="0" i="1"/>
              <a:t>1. Quality Management System (IATF 16949 / ISO 26262):</a:t>
            </a:r>
            <a:r>
              <a:rPr sz="1800" b="0" i="0"/>
              <a:t> PASS (100%)</a:t>
            </a:r>
          </a:p>
          <a:p>
            <a:pPr lvl="1"/>
            <a:r>
              <a:rPr sz="1800" b="0" i="1"/>
              <a:t>2. Design &amp; Change Management (Rev B ECO):</a:t>
            </a:r>
            <a:r>
              <a:rPr sz="1800" b="0" i="0"/>
              <a:t> PASS (100%)</a:t>
            </a:r>
          </a:p>
          <a:p>
            <a:pPr lvl="1"/>
            <a:r>
              <a:rPr sz="1800" b="0" i="1"/>
              <a:t>3. Problem Solving &amp; 8D Execution (CAR-2026-ND01):</a:t>
            </a:r>
            <a:r>
              <a:rPr sz="1800" b="0" i="0"/>
              <a:t> </a:t>
            </a:r>
            <a:r>
              <a:rPr sz="1800" b="1" i="0"/>
              <a:t>EXEMPLARY PASS</a:t>
            </a:r>
          </a:p>
          <a:p>
            <a:pPr lvl="1"/>
            <a:r>
              <a:rPr sz="1800" b="0" i="1"/>
              <a:t>4. Reliability Qualification (AEC-Q100 Data): PASS on interim data (1000-hour HTOL completes June 2)</a:t>
            </a:r>
            <a:r>
              <a:rPr sz="1800" b="0" i="0"/>
              <a:t/>
            </a:r>
          </a:p>
          <a:p>
            <a:pPr lvl="1"/>
            <a:r>
              <a:rPr sz="1800" b="0" i="1"/>
              <a:t>5. Manufacturing &amp; Fab SPC Controls:</a:t>
            </a:r>
            <a:r>
              <a:rPr sz="1800" b="0" i="0"/>
              <a:t> PASS (98% — Minor Observation)</a:t>
            </a:r>
          </a:p>
          <a:p>
            <a:pPr lvl="1"/>
            <a:r>
              <a:rPr sz="1800" b="0" i="1"/>
              <a:t>6. Calibration &amp; Metrology Lab Controls:</a:t>
            </a:r>
            <a:r>
              <a:rPr sz="1800" b="0" i="0"/>
              <a:t> PASS (97% — Minor Observation)</a:t>
            </a:r>
          </a:p>
          <a:p>
            <a:pPr/>
            <a:r>
              <a:rPr sz="2000" b="1" i="0"/>
              <a:t>Overall Compliance Score: 98.4% (Grade A Supplier Status).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Review of 8D Corrective Action &amp; Rev B Qual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2000" b="1" i="0"/>
              <a:t>Key Customer Audit Review Highlights:</a:t>
            </a:r>
          </a:p>
          <a:p>
            <a:pPr lvl="1"/>
            <a:r>
              <a:rPr sz="1800" b="0" i="1"/>
              <a:t>Root Cause Transparency:</a:t>
            </a:r>
            <a:r>
              <a:rPr sz="1800" b="0" i="0"/>
              <a:t> Rosa Santos presented the FIB cross-sections demonstrating the 120µm vs 280µm ESD clamp gate oxide breakdown. NovaDrive validated our technical findings.</a:t>
            </a:r>
          </a:p>
          <a:p>
            <a:pPr lvl="1"/>
            <a:r>
              <a:rPr sz="1800" b="0" i="1"/>
              <a:t>Permanent Corrective Action (PCA):</a:t>
            </a:r>
            <a:r>
              <a:rPr sz="1800" b="0" i="0"/>
              <a:t> Verified CAD DRC rule implementation prohibiting commercial clamp macros in automotive projects.</a:t>
            </a:r>
          </a:p>
          <a:p>
            <a:pPr lvl="1"/>
            <a:r>
              <a:rPr sz="1800" b="0" i="1"/>
              <a:t>Rev B Reliability Retest:</a:t>
            </a:r>
            <a:r>
              <a:rPr sz="1800" b="0" i="0"/>
              <a:t> Kevin Tran presented Rev B early-life burn-in (0/800), HAST (0/231), the 168-hour HTOL pull (0/231) and live chamber logs; the 1000-hour readout is due June 2.</a:t>
            </a:r>
          </a:p>
          <a:p>
            <a:pPr lvl="1"/>
            <a:r>
              <a:rPr sz="1800" b="0" i="1"/>
              <a:t>Yield Recovery:</a:t>
            </a:r>
            <a:r>
              <a:rPr sz="1800" b="0" i="0"/>
              <a:t> James Ortiz demonstrated wafer probe yield increase from 41.2% to 82.1%.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Minor Observations &amp; Immediate Corrective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1800" b="1" i="0"/>
              <a:t>Observation 1: Lab Test Equipment Calibration Sticker</a:t>
            </a:r>
          </a:p>
          <a:p>
            <a:pPr lvl="1"/>
            <a:r>
              <a:rPr sz="1600" b="0" i="1"/>
              <a:t>Finding:</a:t>
            </a:r>
            <a:r>
              <a:rPr sz="1600" b="0" i="0"/>
              <a:t> A secondary digital multimeter in Reliability Lab C had an expired calibration sticker (expired 5 days prior).</a:t>
            </a:r>
          </a:p>
          <a:p>
            <a:pPr lvl="1"/>
            <a:r>
              <a:rPr sz="1600" b="0" i="1"/>
              <a:t>Immediate Action:</a:t>
            </a:r>
            <a:r>
              <a:rPr sz="1600" b="0" i="0"/>
              <a:t> Multimeter quarantined immediately; verified it was not used for qualification data recording; recalibrated and tagged by certified metrology vendor.</a:t>
            </a:r>
          </a:p>
          <a:p>
            <a:pPr/>
            <a:r>
              <a:rPr sz="1800" b="1" i="0"/>
              <a:t>Observation 2: ESD Refresher Training Documentation</a:t>
            </a:r>
          </a:p>
          <a:p>
            <a:pPr lvl="1"/>
            <a:r>
              <a:rPr sz="1600" b="0" i="1"/>
              <a:t>Finding:</a:t>
            </a:r>
            <a:r>
              <a:rPr sz="1600" b="0" i="0"/>
              <a:t> Two newly onboarded junior technicians had not completed their formal annual ESD handling refresher record in the HR database.</a:t>
            </a:r>
          </a:p>
          <a:p>
            <a:pPr lvl="1"/>
            <a:r>
              <a:rPr sz="1600" b="0" i="1"/>
              <a:t>Immediate Action:</a:t>
            </a:r>
            <a:r>
              <a:rPr sz="1600" b="0" i="0"/>
              <a:t> Technicians completed certified online refresher training module on-site during the audit afternoon; records archived.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Production Approval &amp; Mass Production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2000" b="1" i="0"/>
              <a:t>Commercial &amp; Operational Release:</a:t>
            </a:r>
          </a:p>
          <a:p>
            <a:pPr lvl="1"/>
            <a:r>
              <a:rPr sz="1800" b="0" i="0"/>
              <a:t>NovaDrive signed an interim Part Submission Warrant (PSW) for Volta-7 Rev B silicon; the full PSW follows the 1000-hour HTOL readout on June 2.</a:t>
            </a:r>
            <a:r>
              <a:rPr sz="1800" b="1" i="0"/>
              <a:t/>
            </a:r>
            <a:r>
              <a:rPr sz="1800" b="0" i="0"/>
              <a:t/>
            </a:r>
          </a:p>
          <a:p>
            <a:pPr lvl="1"/>
            <a:r>
              <a:rPr sz="1800" b="0" i="0"/>
              <a:t>Production purchase orders released for initial volume: 150,000 units in June 2026, ramping to 250,000 units/month by Q4 2026.</a:t>
            </a:r>
          </a:p>
          <a:p>
            <a:pPr lvl="1"/>
            <a:r>
              <a:rPr sz="1800" b="0" i="0"/>
              <a:t>FastChip authorized Penang Fab 2 to ramp wafer starts to 800 wafers/month.</a:t>
            </a:r>
          </a:p>
          <a:p>
            <a:pPr/>
            <a:r>
              <a:rPr sz="2000" b="1" i="0"/>
              <a:t>Final Message:</a:t>
            </a:r>
          </a:p>
          <a:p>
            <a:pPr lvl="1"/>
            <a:r>
              <a:rPr sz="1800" b="0" i="0"/>
              <a:t>Volta-7 is officially transitioning from NPI development to High-Volume Production.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NovaDrive Customer Audit Readout — May 2026</dc:title>
  <dc:subject/>
  <dc:creator>Anna Becker</dc:creator>
  <cp:keywords>FastChip Semiconductor</cp:keywords>
  <dc:description>rebuilt-by-rebuild_office_docs</dc:description>
  <cp:lastModifiedBy>Anna Becker</cp:lastModifiedBy>
  <cp:revision>1</cp:revision>
  <dcterms:created xsi:type="dcterms:W3CDTF">2026-05-11T00:00:00Z</dcterms:created>
  <dcterms:modified xsi:type="dcterms:W3CDTF">2026-05-11T00:00:00Z</dcterms:modified>
  <cp:category/>
</cp:coreProperties>
</file>
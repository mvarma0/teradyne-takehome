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report presents the definitive reliability dataset for Volta-7. Rev B has cleared all stress tests with zero failures across all sample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test methodology adhered strictly to AEC-Q100 standards, testing devices under extreme accelerated voltage and thermal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TC and HAST passed on Rev A, the 3 HTOL failures at 500 hours rendered the silicon unusable for automotive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Rev B, every single unit completed the full stress battery without a single failure or anomaly.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Parametric drift across 1000 hours of HTOL was virtually flat. The 280µm clamp macro provides massive thermal and electrical guardband.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 B is completely clean. I unreservedly recommend Volta-7 for automotive production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463040"/>
          </a:xfrm>
        </p:spPr>
        <p:txBody>
          <a:bodyPr/>
          <a:lstStyle/>
          <a:p>
            <a:r>
              <a:t>Volta-7 Reliability Qualification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698480" cy="1828800"/>
          </a:xfrm>
        </p:spPr>
        <p:txBody>
          <a:bodyPr/>
          <a:lstStyle/>
          <a:p>
            <a:r>
              <a:rPr sz="1800" b="1" i="0"/>
              <a:t>Author:</a:t>
            </a:r>
            <a:r>
              <a:rPr sz="1800" b="0" i="0"/>
              <a:t> Kevin Tran, Senior Reliability Engineer</a:t>
            </a:r>
          </a:p>
          <a:p>
            <a:r>
              <a:rPr sz="1800" b="1" i="0"/>
              <a:t>Division:</a:t>
            </a:r>
            <a:r>
              <a:rPr sz="1800" b="0" i="0"/>
              <a:t> Product Engineering — Quality &amp; Reliability Lab</a:t>
            </a:r>
          </a:p>
          <a:p>
            <a:r>
              <a:rPr sz="1800" b="1" i="0"/>
              <a:t>Date:</a:t>
            </a:r>
            <a:r>
              <a:rPr sz="1800" b="0" i="0"/>
              <a:t> April 30,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Title &amp; Executive Qualification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Title:</a:t>
            </a:r>
            <a:r>
              <a:rPr sz="2000" b="0" i="0"/>
              <a:t> Volta-7 Automotive Reliability Qualification Report (AEC-Q100 Grade 1)</a:t>
            </a:r>
          </a:p>
          <a:p>
            <a:pPr/>
            <a:r>
              <a:rPr sz="2000" b="1" i="0"/>
              <a:t>Author:</a:t>
            </a:r>
            <a:r>
              <a:rPr sz="2000" b="0" i="0"/>
              <a:t> Kevin Tran, Senior Reliability Engineer</a:t>
            </a:r>
          </a:p>
          <a:p>
            <a:pPr/>
            <a:r>
              <a:rPr sz="2000" b="1" i="0"/>
              <a:t>Approved By:</a:t>
            </a:r>
            <a:r>
              <a:rPr sz="2000" b="0" i="0"/>
              <a:t> Anna Becker (Quality Manager), Mike Chen (VP Product Engineering)</a:t>
            </a:r>
          </a:p>
          <a:p>
            <a:pPr/>
            <a:r>
              <a:rPr sz="2000" b="1" i="0"/>
              <a:t>Executive Conclusion:</a:t>
            </a:r>
          </a:p>
          <a:p>
            <a:pPr lvl="1"/>
            <a:r>
              <a:rPr sz="1800" b="0" i="0"/>
              <a:t>Volta-7 Rev A silicon failed AEC-Q100 HTOL at 500 hours due to an undersized IO clamp design defect.</a:t>
            </a:r>
          </a:p>
          <a:p>
            <a:pPr lvl="1"/>
            <a:r>
              <a:rPr sz="1800" b="0" i="0"/>
              <a:t>Volta-7 Rev B silicon successfully completed all AEC-Q100 Grade 1 environmental and electrical stress tests.</a:t>
            </a:r>
          </a:p>
          <a:p>
            <a:pPr lvl="1"/>
            <a:r>
              <a:rPr sz="1800" b="1" i="0"/>
              <a:t>FINAL STATUS: FULLY QUALIFIED FOR AUTOMOTIVE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Qualification Methodology &amp; Stress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Automotive Standard:</a:t>
            </a:r>
            <a:r>
              <a:rPr sz="2000" b="0" i="0"/>
              <a:t> AEC-Q100 Grade 1 (-40°C to +125°C ambient, TJ = 150°C).</a:t>
            </a:r>
          </a:p>
          <a:p>
            <a:pPr/>
            <a:r>
              <a:rPr sz="2000" b="1" i="0"/>
              <a:t>Core Test Matrix (3 Non-Consecutive Lots, 77 Units/Lot, C=0):</a:t>
            </a:r>
          </a:p>
          <a:p>
            <a:pPr lvl="1"/>
            <a:r>
              <a:rPr sz="1800" b="0" i="1"/>
              <a:t>High Temp Operating Life (HTOL):</a:t>
            </a:r>
            <a:r>
              <a:rPr sz="1800" b="0" i="0"/>
              <a:t> 1000 hrs, TA = 125°C, TJ = 150°C, VDD = 1.15V, VDDIO = 5.25V.</a:t>
            </a:r>
          </a:p>
          <a:p>
            <a:pPr lvl="1"/>
            <a:r>
              <a:rPr sz="1800" b="0" i="1"/>
              <a:t>Temperature Cycling (TC):</a:t>
            </a:r>
            <a:r>
              <a:rPr sz="1800" b="0" i="0"/>
              <a:t> 1000 cycles, -55°C to +150°C, air-to-air chamber.</a:t>
            </a:r>
          </a:p>
          <a:p>
            <a:pPr lvl="1"/>
            <a:r>
              <a:rPr sz="1800" b="0" i="1"/>
              <a:t>Highly Accelerated Stress Test (HAST):</a:t>
            </a:r>
            <a:r>
              <a:rPr sz="1800" b="0" i="0"/>
              <a:t> 96 hrs, 130°C, 85% RH, unbiased.</a:t>
            </a:r>
          </a:p>
          <a:p>
            <a:pPr lvl="1"/>
            <a:r>
              <a:rPr sz="1800" b="0" i="1"/>
              <a:t>Preconditioning (Precon):</a:t>
            </a:r>
            <a:r>
              <a:rPr sz="1800" b="0" i="0"/>
              <a:t> JEDEC MSL3 (192h 30°C/60% RH + 3x reflow at 260°C).</a:t>
            </a:r>
          </a:p>
          <a:p>
            <a:pPr lvl="1"/>
            <a:r>
              <a:rPr sz="1800" b="0" i="1"/>
              <a:t>Electrostatic Discharge (ESD):</a:t>
            </a:r>
            <a:r>
              <a:rPr sz="1800" b="0" i="0"/>
              <a:t> Human Body Model (HBM) and Charged Device Model (CDM).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Rev A Qualification Results &amp; HTOL Failure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Rev A Stress Test Results Table:</a:t>
            </a:r>
          </a:p>
          <a:p>
            <a:pPr lvl="1"/>
            <a:r>
              <a:rPr sz="1600" b="0" i="1"/>
              <a:t>HTOL (168 Hours):</a:t>
            </a:r>
            <a:r>
              <a:rPr sz="1600" b="0" i="0"/>
              <a:t> 231 tested, 231 passed (0 fails).</a:t>
            </a:r>
          </a:p>
          <a:p>
            <a:pPr lvl="1"/>
            <a:r>
              <a:rPr sz="1600" b="0" i="1"/>
              <a:t>HTOL (500 Hours):</a:t>
            </a:r>
            <a:r>
              <a:rPr sz="1600" b="0" i="0"/>
              <a:t> 231 tested, 228 passed, </a:t>
            </a:r>
            <a:r>
              <a:rPr sz="1600" b="1" i="0"/>
              <a:t>3 FAILED (Lot LOT-V7-008)</a:t>
            </a:r>
            <a:r>
              <a:rPr sz="1600" b="0" i="0"/>
              <a:t>.</a:t>
            </a:r>
          </a:p>
          <a:p>
            <a:pPr lvl="1"/>
            <a:r>
              <a:rPr sz="1600" b="0" i="1"/>
              <a:t>Temperature Cycling (1000 cyc):</a:t>
            </a:r>
            <a:r>
              <a:rPr sz="1600" b="0" i="0"/>
              <a:t> 231 tested, 231 passed (0 fails).</a:t>
            </a:r>
          </a:p>
          <a:p>
            <a:pPr lvl="1"/>
            <a:r>
              <a:rPr sz="1600" b="0" i="1"/>
              <a:t>HAST (96 Hours):</a:t>
            </a:r>
            <a:r>
              <a:rPr sz="1600" b="0" i="0"/>
              <a:t> 231 tested, 231 passed (0 fails).</a:t>
            </a:r>
          </a:p>
          <a:p>
            <a:pPr lvl="1"/>
            <a:r>
              <a:rPr sz="1600" b="0" i="1"/>
              <a:t>HBM ESD:</a:t>
            </a:r>
            <a:r>
              <a:rPr sz="1600" b="0" i="0"/>
              <a:t> Passed 2.0 kV (marginal on CAN pins).</a:t>
            </a:r>
          </a:p>
          <a:p>
            <a:pPr/>
            <a:r>
              <a:rPr sz="1800" b="1" i="0"/>
              <a:t>Failure Analysis Corroboration:</a:t>
            </a:r>
          </a:p>
          <a:p>
            <a:pPr lvl="1"/>
            <a:r>
              <a:rPr sz="1600" b="0" i="0"/>
              <a:t>Units U042, U089, U115 suffered oxide blowout in 120µm IO clamp under sustained DC bias at 150°C.</a:t>
            </a:r>
          </a:p>
          <a:p>
            <a:pPr lvl="1"/>
            <a:r>
              <a:rPr sz="1600" b="0" i="0"/>
              <a:t>Rev A officially designated as FAILED for production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Rev B Qualification Results — Zero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Rev B Qualification Table (Lot LOT-V7-020):</a:t>
            </a:r>
          </a:p>
          <a:p>
            <a:pPr lvl="1"/>
            <a:r>
              <a:rPr sz="1800" b="0" i="1"/>
              <a:t>HTOL (168-Hour Accelerated Screen):</a:t>
            </a:r>
            <a:r>
              <a:rPr sz="1800" b="0" i="0"/>
              <a:t> 231 tested, 231 passed (0 fails).</a:t>
            </a:r>
          </a:p>
          <a:p>
            <a:pPr lvl="1"/>
            <a:r>
              <a:rPr sz="1800" b="0" i="1"/>
              <a:t>HTOL (1000-Hour Full Qualification):</a:t>
            </a:r>
            <a:r>
              <a:rPr sz="1800" b="0" i="0"/>
              <a:t> 231 tested, 231 passed (</a:t>
            </a:r>
            <a:r>
              <a:rPr sz="1800" b="1" i="0"/>
              <a:t>0 FAILS — C=0 ACHIEVED</a:t>
            </a:r>
            <a:r>
              <a:rPr sz="1800" b="0" i="0"/>
              <a:t>).</a:t>
            </a:r>
          </a:p>
          <a:p>
            <a:pPr lvl="1"/>
            <a:r>
              <a:rPr sz="1800" b="0" i="1"/>
              <a:t>Temperature Cycling (1000 cyc):</a:t>
            </a:r>
            <a:r>
              <a:rPr sz="1800" b="0" i="0"/>
              <a:t> 231 tested, 231 passed (0 fails).</a:t>
            </a:r>
          </a:p>
          <a:p>
            <a:pPr lvl="1"/>
            <a:r>
              <a:rPr sz="1800" b="0" i="1"/>
              <a:t>HAST (96 Hours):</a:t>
            </a:r>
            <a:r>
              <a:rPr sz="1800" b="0" i="0"/>
              <a:t> 231 tested, 231 passed (0 fails).</a:t>
            </a:r>
          </a:p>
          <a:p>
            <a:pPr lvl="1"/>
            <a:r>
              <a:rPr sz="1800" b="0" i="1"/>
              <a:t>HBM ESD Robustness:</a:t>
            </a:r>
            <a:r>
              <a:rPr sz="1800" b="0" i="0"/>
              <a:t> Exceeded </a:t>
            </a:r>
            <a:r>
              <a:rPr sz="1800" b="1" i="0"/>
              <a:t>&gt;2.5 kV</a:t>
            </a:r>
            <a:r>
              <a:rPr sz="1800" b="0" i="0"/>
              <a:t> (Passing AEC-Q100 limit).</a:t>
            </a:r>
          </a:p>
          <a:p>
            <a:pPr lvl="1"/>
            <a:r>
              <a:rPr sz="1800" b="0" i="1"/>
              <a:t>CDM ESD Robustness:</a:t>
            </a:r>
            <a:r>
              <a:rPr sz="1800" b="0" i="0"/>
              <a:t> Exceeded </a:t>
            </a:r>
            <a:r>
              <a:rPr sz="1800" b="1" i="0"/>
              <a:t>&gt;750 V</a:t>
            </a:r>
            <a:r>
              <a:rPr sz="1800" b="0" i="0"/>
              <a:t> (Passing AEC-Q100 limit).</a:t>
            </a:r>
          </a:p>
          <a:p>
            <a:pPr/>
            <a:r>
              <a:rPr sz="2000" b="1" i="0"/>
              <a:t>Acoustic Microscopy (C-SAM):</a:t>
            </a:r>
            <a:r>
              <a:rPr sz="2000" b="0" i="0"/>
              <a:t> Zero package delamination post-MSL3 reflow.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Parametric Drift &amp; Degradation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Parametric Stability Across Stress Duration:</a:t>
            </a:r>
          </a:p>
          <a:p>
            <a:pPr lvl="1"/>
            <a:r>
              <a:rPr sz="1800" b="0" i="1"/>
              <a:t>Pin 14 / Pin 22 Leakage Current:</a:t>
            </a:r>
            <a:r>
              <a:rPr sz="1800" b="0" i="0"/>
              <a:t> Initial: 4.2 nA | Post-500h: 4.8 nA | Post-1000h: 5.1 nA (Limit: &lt;1000 nA).</a:t>
            </a:r>
          </a:p>
          <a:p>
            <a:pPr lvl="1"/>
            <a:r>
              <a:rPr sz="1800" b="0" i="1"/>
              <a:t>Core IDDQ Standby Current:</a:t>
            </a:r>
            <a:r>
              <a:rPr sz="1800" b="0" i="0"/>
              <a:t> Initial: 14.2 µA | Post-1000h: 15.1 µA (Limit: &lt;50 µA).</a:t>
            </a:r>
          </a:p>
          <a:p>
            <a:pPr lvl="1"/>
            <a:r>
              <a:rPr sz="1800" b="0" i="1"/>
              <a:t>CAN-FD Transceiver Loop Delay:</a:t>
            </a:r>
            <a:r>
              <a:rPr sz="1800" b="0" i="0"/>
              <a:t> Initial: 112 ns | Post-1000h: 114 ns (Spec: &lt;150 ns).</a:t>
            </a:r>
          </a:p>
          <a:p>
            <a:pPr lvl="1"/>
            <a:r>
              <a:rPr sz="1800" b="0" i="1"/>
              <a:t>Internal Bandgap Reference Drift:</a:t>
            </a:r>
            <a:r>
              <a:rPr sz="1800" b="0" i="0"/>
              <a:t> Less than 0.12% total shift across -40°C to +150°C.</a:t>
            </a:r>
          </a:p>
          <a:p>
            <a:pPr/>
            <a:r>
              <a:rPr sz="2000" b="1" i="0"/>
              <a:t>Statistical Distribution:</a:t>
            </a:r>
            <a:r>
              <a:rPr sz="2000" b="0" i="0"/>
              <a:t> Pre- and post-stress distribution curves show tight normal Gaussian distribution with zero outlying populations.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Final Reliability Sign-off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Formal Sign-off Statement:</a:t>
            </a:r>
          </a:p>
          <a:p>
            <a:pPr lvl="1"/>
            <a:r>
              <a:rPr sz="1600" b="0" i="0"/>
              <a:t>Product Engineering Quality &amp; Reliability certifies that Volta-7 Rev B silicon complies with all AEC-Q100 Grade 1 automotive requirements.</a:t>
            </a:r>
          </a:p>
          <a:p>
            <a:pPr lvl="1"/>
            <a:r>
              <a:rPr sz="1600" b="0" i="0"/>
              <a:t>Zero critical failure modes remain open.</a:t>
            </a:r>
          </a:p>
          <a:p>
            <a:pPr lvl="1"/>
            <a:r>
              <a:rPr sz="1600" b="0" i="0"/>
              <a:t>8D Corrective Action CAR-2024-ND01 (Discipline D6) validated and closed.</a:t>
            </a:r>
          </a:p>
          <a:p>
            <a:pPr/>
            <a:r>
              <a:rPr sz="1800" b="1" i="0"/>
              <a:t>Production Recommendation:</a:t>
            </a:r>
          </a:p>
          <a:p>
            <a:pPr lvl="1"/>
            <a:r>
              <a:rPr sz="1600" b="1" i="0"/>
              <a:t>IMMEDIATE UNCONDITIONAL PRODUCTION APPROVAL.</a:t>
            </a:r>
          </a:p>
          <a:p>
            <a:pPr lvl="1"/>
            <a:r>
              <a:rPr sz="1600" b="0" i="0"/>
              <a:t>Ready for NovaDrive Customer Audit presentation on May 12, 2024.</a:t>
            </a:r>
          </a:p>
          <a:p>
            <a:pPr/>
            <a:r>
              <a:rPr sz="1800" b="0" i="1"/>
              <a:t>Signatures:</a:t>
            </a:r>
            <a:r>
              <a:rPr sz="1800" b="0" i="0"/>
              <a:t> Kevin Tran (Lead Reliability Eng), Anna Becker (Quality Mgr), Mike Chen (VP Product Eng).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Volta-7 Reliability Qualification Summary</dc:title>
  <dc:subject/>
  <dc:creator>Kevin Tran</dc:creator>
  <cp:keywords>FastChip Semiconductor</cp:keywords>
  <dc:description>rebuilt-by-rebuild_office_docs</dc:description>
  <cp:lastModifiedBy>Kevin Tran</cp:lastModifiedBy>
  <cp:revision>1</cp:revision>
  <dcterms:created xsi:type="dcterms:W3CDTF">2024-04-30T00:00:00Z</dcterms:created>
  <dcterms:modified xsi:type="dcterms:W3CDTF">2024-04-30T00:00:00Z</dcterms:modified>
  <cp:category/>
</cp:coreProperties>
</file>
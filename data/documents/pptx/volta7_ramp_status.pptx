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briefing summarizes our NPI recovery posture following the Rev A HTOL excursion. Our critical path is tightly coupled to the April 19 Rev B silicon dock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HTOL is our single red gate. Every other deliverable has been held on schedule through intense team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excursion was thoroughly investigated. Having absolute physical proof of the root cause prevented wasted fab cycles and allowed immediate silicon redesign.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utilizing pre-built poly base wafers, we compressed a normal 12-week fab cycle into exactly 20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Tom Harris has managed customer communications flawlessly. NovaDrive is holding their vehicle line for us, but May 10 is their non-negotiable deadline.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entire team knows their role. If we execute to this plan, Volta-7 will be Green by late April.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828800"/>
            <a:ext cx="10698480" cy="1463040"/>
          </a:xfrm>
        </p:spPr>
        <p:txBody>
          <a:bodyPr/>
          <a:lstStyle/>
          <a:p>
            <a:r>
              <a:t>Volta-7 Ramp Status — March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474720"/>
            <a:ext cx="10698480" cy="1828800"/>
          </a:xfrm>
        </p:spPr>
        <p:txBody>
          <a:bodyPr/>
          <a:lstStyle/>
          <a:p>
            <a:r>
              <a:rPr sz="1800" b="1" i="0"/>
              <a:t>Author:</a:t>
            </a:r>
            <a:r>
              <a:rPr sz="1800" b="0" i="0"/>
              <a:t> Derek Cole, NPI Program Manager</a:t>
            </a:r>
          </a:p>
          <a:p>
            <a:r>
              <a:rPr sz="1800" b="1" i="0"/>
              <a:t>Program:</a:t>
            </a:r>
            <a:r>
              <a:rPr sz="1800" b="0" i="0"/>
              <a:t> FastChip Volta-7 / NovaDrive Motors EV Inverter</a:t>
            </a:r>
          </a:p>
          <a:p>
            <a:r>
              <a:rPr sz="1800" b="1" i="0"/>
              <a:t>Date:</a:t>
            </a:r>
            <a:r>
              <a:rPr sz="1800" b="0" i="0"/>
              <a:t> March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Program Status &amp; 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Project:</a:t>
            </a:r>
            <a:r>
              <a:rPr sz="2000" b="0" i="0"/>
              <a:t> Volta-7 Automotive Grade 1 Power Management Controller</a:t>
            </a:r>
          </a:p>
          <a:p>
            <a:pPr/>
            <a:r>
              <a:rPr sz="2000" b="1" i="0"/>
              <a:t>Customer:</a:t>
            </a:r>
            <a:r>
              <a:rPr sz="2000" b="0" i="0"/>
              <a:t> NovaDrive Motors Inc. (Platform: 2027 EV Drivetrain)</a:t>
            </a:r>
          </a:p>
          <a:p>
            <a:pPr/>
            <a:r>
              <a:rPr sz="2000" b="1" i="0"/>
              <a:t>Program Manager:</a:t>
            </a:r>
            <a:r>
              <a:rPr sz="2000" b="0" i="0"/>
              <a:t> Derek Cole | </a:t>
            </a:r>
            <a:r>
              <a:rPr sz="2000" b="1" i="0"/>
              <a:t>PE Lead:</a:t>
            </a:r>
            <a:r>
              <a:rPr sz="2000" b="0" i="0"/>
              <a:t> Lisa Park</a:t>
            </a:r>
          </a:p>
          <a:p>
            <a:pPr/>
            <a:r>
              <a:rPr sz="2000" b="1" i="0"/>
              <a:t>Overall Program Health:</a:t>
            </a:r>
            <a:r>
              <a:rPr sz="2000" b="0" i="0"/>
              <a:t> </a:t>
            </a:r>
            <a:r>
              <a:rPr sz="2000" b="1" i="0"/>
              <a:t>YELLOW (Recovery Mode)</a:t>
            </a:r>
          </a:p>
          <a:p>
            <a:pPr lvl="1"/>
            <a:r>
              <a:rPr sz="1800" b="0" i="1"/>
              <a:t>Silicon Design:</a:t>
            </a:r>
            <a:r>
              <a:rPr sz="1800" b="0" i="0"/>
              <a:t> Re-opened for Rev B Tape-out (Masks released Mar 21).</a:t>
            </a:r>
          </a:p>
          <a:p>
            <a:pPr lvl="1"/>
            <a:r>
              <a:rPr sz="1800" b="0" i="1"/>
              <a:t>Manufacturing:</a:t>
            </a:r>
            <a:r>
              <a:rPr sz="1800" b="0" i="0"/>
              <a:t> Penang Fab processing 5 hot-lots with modified CMP recipe.</a:t>
            </a:r>
          </a:p>
          <a:p>
            <a:pPr lvl="1"/>
            <a:r>
              <a:rPr sz="1800" b="0" i="1"/>
              <a:t>Customer Interface:</a:t>
            </a:r>
            <a:r>
              <a:rPr sz="1800" b="0" i="0"/>
              <a:t> Formal 8D containment active; customer committed to May audit.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NPI Program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Milestone Tracking Table:</a:t>
            </a:r>
          </a:p>
          <a:p>
            <a:pPr lvl="1"/>
            <a:r>
              <a:rPr sz="1600" b="0" i="1"/>
              <a:t>Design Tape-out (Rev A):</a:t>
            </a:r>
            <a:r>
              <a:rPr sz="1600" b="0" i="0"/>
              <a:t> Completed Nov 17, 2025 [Status: Green]</a:t>
            </a:r>
          </a:p>
          <a:p>
            <a:pPr lvl="1"/>
            <a:r>
              <a:rPr sz="1600" b="0" i="1"/>
              <a:t>Wafer Sort Baseline:</a:t>
            </a:r>
            <a:r>
              <a:rPr sz="1600" b="0" i="0"/>
              <a:t> Completed Jan 12, 2026 — Yield 41.2% [Status: Red / Recovered to Yellow]</a:t>
            </a:r>
          </a:p>
          <a:p>
            <a:pPr lvl="1"/>
            <a:r>
              <a:rPr sz="1600" b="0" i="1"/>
              <a:t>Sample Delivery (50 ES1):</a:t>
            </a:r>
            <a:r>
              <a:rPr sz="1600" b="0" i="0"/>
              <a:t> Completed Feb 27, 2026 [Status: Green]</a:t>
            </a:r>
          </a:p>
          <a:p>
            <a:pPr lvl="1"/>
            <a:r>
              <a:rPr sz="1600" b="0" i="1"/>
              <a:t>HTOL Reliability Qual (Rev A):</a:t>
            </a:r>
            <a:r>
              <a:rPr sz="1600" b="0" i="0"/>
              <a:t> FAILED Mar 9, 2026 [Status: RED]</a:t>
            </a:r>
          </a:p>
          <a:p>
            <a:pPr lvl="1"/>
            <a:r>
              <a:rPr sz="1600" b="0" i="1"/>
              <a:t>Rev B Mask Tape-out:</a:t>
            </a:r>
            <a:r>
              <a:rPr sz="1600" b="0" i="0"/>
              <a:t> Completed Mar 21, 2026 [Status: Green]</a:t>
            </a:r>
          </a:p>
          <a:p>
            <a:pPr lvl="1"/>
            <a:r>
              <a:rPr sz="1600" b="0" i="1"/>
              <a:t>Rev B Silicon Arrival:</a:t>
            </a:r>
            <a:r>
              <a:rPr sz="1600" b="0" i="0"/>
              <a:t> Target Apr 19, 2026 [Status: Yellow / Tracking on-time]</a:t>
            </a:r>
          </a:p>
          <a:p>
            <a:pPr lvl="1"/>
            <a:r>
              <a:rPr sz="1600" b="0" i="1"/>
              <a:t>NovaDrive On-Site Audit:</a:t>
            </a:r>
            <a:r>
              <a:rPr sz="1600" b="0" i="0"/>
              <a:t> Target May 10, 2026 [Status: Yellow]</a:t>
            </a:r>
          </a:p>
          <a:p>
            <a:pPr lvl="1"/>
            <a:r>
              <a:rPr sz="1600" b="0" i="1"/>
              <a:t>Production Ramp (SOP):</a:t>
            </a:r>
            <a:r>
              <a:rPr sz="1600" b="0" i="0"/>
              <a:t> Target June 2026 [Status: Yellow]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Rev A HTOL Excursion &amp; Root Cause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Failure Description:</a:t>
            </a:r>
            <a:r>
              <a:rPr sz="1800" b="0" i="0"/>
              <a:t> 3 units failed at 500-hour HTOL readout (U162, U189, U215 from Lot LOT-V7-005).</a:t>
            </a:r>
          </a:p>
          <a:p>
            <a:pPr/>
            <a:r>
              <a:rPr sz="1800" b="1" i="0"/>
              <a:t>Physical Analysis Summary (Rosa Santos):</a:t>
            </a:r>
          </a:p>
          <a:p>
            <a:pPr lvl="1"/>
            <a:r>
              <a:rPr sz="1600" b="0" i="0"/>
              <a:t>Short circuit on Pin 14 (CAN_TX) and high leakage on Pin 22 (LIN_IO).</a:t>
            </a:r>
          </a:p>
          <a:p>
            <a:pPr lvl="1"/>
            <a:r>
              <a:rPr sz="1600" b="0" i="0"/>
              <a:t>OBIRCH and EMMI pinpointed breakdown to primary ESD rail clamp.</a:t>
            </a:r>
          </a:p>
          <a:p>
            <a:pPr lvl="1"/>
            <a:r>
              <a:rPr sz="1600" b="0" i="0"/>
              <a:t>FIB revealed gate oxide blowout and silicon filamentation.</a:t>
            </a:r>
          </a:p>
          <a:p>
            <a:pPr/>
            <a:r>
              <a:rPr sz="1800" b="1" i="0"/>
              <a:t>Root Cause Classification:</a:t>
            </a:r>
          </a:p>
          <a:p>
            <a:pPr lvl="1"/>
            <a:r>
              <a:rPr sz="1600" b="0" i="0"/>
              <a:t>Inadvertent substitution of 120µm commercial clamp macro in place of required 280µm automotive cell to resolve layout pitch congestion.</a:t>
            </a:r>
          </a:p>
          <a:p>
            <a:pPr lvl="1"/>
            <a:r>
              <a:rPr sz="1600" b="0" i="0"/>
              <a:t>Design verification rule gap allowed layout waiver without PE reliability approval.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Rev B Recovery Schedule &amp; Fab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1800" b="1" i="0"/>
              <a:t>Fast-Track Fabrication Strategy:</a:t>
            </a:r>
          </a:p>
          <a:p>
            <a:pPr lvl="1"/>
            <a:r>
              <a:rPr sz="1600" b="0" i="0"/>
              <a:t>Penang Fab 2 held 5 wafer lots at Poly Gate stage (pre-metallization base wafers).</a:t>
            </a:r>
          </a:p>
          <a:p>
            <a:pPr lvl="1"/>
            <a:r>
              <a:rPr sz="1600" b="0" i="0"/>
              <a:t>Rev B requires only 4 mask changes: Contact, Metal 1, Via 1, Metal 2.</a:t>
            </a:r>
          </a:p>
          <a:p>
            <a:pPr/>
            <a:r>
              <a:rPr sz="1800" b="1" i="0"/>
              <a:t>Detailed Timeline to Silicon Dock:</a:t>
            </a:r>
          </a:p>
          <a:p>
            <a:pPr lvl="1"/>
            <a:r>
              <a:rPr sz="1600" b="0" i="1"/>
              <a:t>March 21:</a:t>
            </a:r>
            <a:r>
              <a:rPr sz="1600" b="0" i="0"/>
              <a:t> Mask database tape-out released to Penang mask shop.</a:t>
            </a:r>
          </a:p>
          <a:p>
            <a:pPr lvl="1"/>
            <a:r>
              <a:rPr sz="1600" b="0" i="1"/>
              <a:t>March 25:</a:t>
            </a:r>
            <a:r>
              <a:rPr sz="1600" b="0" i="0"/>
              <a:t> Reticles inspected, verified, and loaded onto lithography cluster.</a:t>
            </a:r>
          </a:p>
          <a:p>
            <a:pPr lvl="1"/>
            <a:r>
              <a:rPr sz="1600" b="0" i="1"/>
              <a:t>March 26 – April 16:</a:t>
            </a:r>
            <a:r>
              <a:rPr sz="1600" b="0" i="0"/>
              <a:t> Hot-lot metallization (LOT-V7-020 through LOT-V7-024).</a:t>
            </a:r>
          </a:p>
          <a:p>
            <a:pPr lvl="1"/>
            <a:r>
              <a:rPr sz="1600" b="0" i="1"/>
              <a:t>April 17:</a:t>
            </a:r>
            <a:r>
              <a:rPr sz="1600" b="0" i="0"/>
              <a:t> Wafer fab-out, passivation, and back-grind complete.</a:t>
            </a:r>
          </a:p>
          <a:p>
            <a:pPr lvl="1"/>
            <a:r>
              <a:rPr sz="1600" b="0" i="1"/>
              <a:t>April 18:</a:t>
            </a:r>
            <a:r>
              <a:rPr sz="1600" b="0" i="0"/>
              <a:t> Dedicated courier air shipment from Penang to Austin.</a:t>
            </a:r>
          </a:p>
          <a:p>
            <a:pPr lvl="1"/>
            <a:r>
              <a:rPr sz="1600" b="0" i="1"/>
              <a:t>April 19:</a:t>
            </a:r>
            <a:r>
              <a:rPr sz="1600" b="0" i="0"/>
              <a:t> Dock in Austin; immediate wafer sort on Tester 04.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NovaDrive EV Ramp Commitments &amp; Sample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Customer Deliverable Matrix:</a:t>
            </a:r>
          </a:p>
          <a:p>
            <a:pPr lvl="1"/>
            <a:r>
              <a:rPr sz="1800" b="0" i="1"/>
              <a:t>ES1 Samples (50 Units):</a:t>
            </a:r>
            <a:r>
              <a:rPr sz="1800" b="0" i="0"/>
              <a:t> Shipped Feb 27. Quarantined to room-temp lab evaluation.</a:t>
            </a:r>
          </a:p>
          <a:p>
            <a:pPr lvl="1"/>
            <a:r>
              <a:rPr sz="1800" b="0" i="1"/>
              <a:t>8D Report Submission:</a:t>
            </a:r>
            <a:r>
              <a:rPr sz="1800" b="0" i="0"/>
              <a:t> D1–D5 delivery committed for April 05.</a:t>
            </a:r>
          </a:p>
          <a:p>
            <a:pPr lvl="1"/>
            <a:r>
              <a:rPr sz="1800" b="0" i="1"/>
              <a:t>Rev B Fast-Track Samples:</a:t>
            </a:r>
            <a:r>
              <a:rPr sz="1800" b="0" i="0"/>
              <a:t> 100 fully screened QFN-48 units scheduled for delivery April 23.</a:t>
            </a:r>
          </a:p>
          <a:p>
            <a:pPr lvl="1"/>
            <a:r>
              <a:rPr sz="1800" b="0" i="1"/>
              <a:t>Production Part Approval Process (PPAP):</a:t>
            </a:r>
            <a:r>
              <a:rPr sz="1800" b="0" i="0"/>
              <a:t> Level 3 documentation submission scheduled for May 8.</a:t>
            </a:r>
          </a:p>
          <a:p>
            <a:pPr lvl="1"/>
            <a:r>
              <a:rPr sz="1800" b="0" i="1"/>
              <a:t>Supplier Quality Audit:</a:t>
            </a:r>
            <a:r>
              <a:rPr sz="1800" b="0" i="0"/>
              <a:t> Austin facility audit confirmed for May 10.</a:t>
            </a:r>
          </a:p>
          <a:p>
            <a:pPr/>
            <a:r>
              <a:rPr sz="2000" b="1" i="0"/>
              <a:t>Customer Sentiment:</a:t>
            </a:r>
            <a:r>
              <a:rPr sz="2000" b="0" i="0"/>
              <a:t> Critical but supportive; NovaDrive has maintained their production allocation pending audit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/>
          <a:lstStyle/>
          <a:p>
            <a:r>
              <a:rPr sz="3000"/>
              <a:t>Risk Mitigation Matrix &amp; Path to Green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325880"/>
            <a:ext cx="11064240" cy="5212080"/>
          </a:xfrm>
        </p:spPr>
        <p:txBody>
          <a:bodyPr wrap="square"/>
          <a:lstStyle/>
          <a:p>
            <a:pPr/>
            <a:r>
              <a:rPr sz="2000" b="1" i="0"/>
              <a:t>Remaining Project Risks:</a:t>
            </a:r>
          </a:p>
          <a:p>
            <a:pPr lvl="1"/>
            <a:r>
              <a:rPr sz="1800" b="0" i="1"/>
              <a:t>1. Probe Card Availability:</a:t>
            </a:r>
            <a:r>
              <a:rPr sz="1800" b="0" i="0"/>
              <a:t> Tester 04 probe card cleaned and re-aligned; spare card verified.</a:t>
            </a:r>
          </a:p>
          <a:p>
            <a:pPr lvl="1"/>
            <a:r>
              <a:rPr sz="1800" b="0" i="1"/>
              <a:t>2. Packaging Turnaround:</a:t>
            </a:r>
            <a:r>
              <a:rPr sz="1800" b="0" i="0"/>
              <a:t> Fast-track wire-bond line reserved in Penang assembly for 48-hour turn.</a:t>
            </a:r>
          </a:p>
          <a:p>
            <a:pPr lvl="1"/>
            <a:r>
              <a:rPr sz="1800" b="0" i="1"/>
              <a:t>3. Reliability Chamber Readiness:</a:t>
            </a:r>
            <a:r>
              <a:rPr sz="1800" b="0" i="0"/>
              <a:t> Kevin Tran has pre-wired Chambers 2 and 3 with calibrated sockets.</a:t>
            </a:r>
          </a:p>
          <a:p>
            <a:pPr/>
            <a:r>
              <a:rPr sz="2000" b="1" i="0"/>
              <a:t>Exit Criteria for GREEN Program Health:</a:t>
            </a:r>
          </a:p>
          <a:p>
            <a:pPr lvl="1"/>
            <a:r>
              <a:rPr sz="1800" b="0" i="0"/>
              <a:t>Rev B sort yield &gt;75%.</a:t>
            </a:r>
          </a:p>
          <a:p>
            <a:pPr lvl="1"/>
            <a:r>
              <a:rPr sz="1800" b="0" i="0"/>
              <a:t>Zero failures in Rev B early-life and HAST screening, with HTOL on track for 1000 hours.</a:t>
            </a:r>
          </a:p>
          <a:p>
            <a:pPr lvl="1"/>
            <a:r>
              <a:rPr sz="1800" b="0" i="0"/>
              <a:t>Closure of 8D report CAR-2026-ND01.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Volta-7 Ramp Status — March 2026</dc:title>
  <dc:subject/>
  <dc:creator>Derek Cole</dc:creator>
  <cp:keywords>FastChip Semiconductor</cp:keywords>
  <dc:description>rebuilt-by-rebuild_office_docs</dc:description>
  <cp:lastModifiedBy>Derek Cole</cp:lastModifiedBy>
  <cp:revision>1</cp:revision>
  <dcterms:created xsi:type="dcterms:W3CDTF">2026-03-27T00:00:00Z</dcterms:created>
  <dcterms:modified xsi:type="dcterms:W3CDTF">2026-03-27T00:00:00Z</dcterms:modified>
  <cp:category/>
</cp:coreProperties>
</file>